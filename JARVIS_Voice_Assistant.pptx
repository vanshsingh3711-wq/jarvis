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FE3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68696" y="1348740"/>
            <a:ext cx="1051560" cy="105156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5" name="Text 3"/>
          <p:cNvSpPr/>
          <p:nvPr/>
        </p:nvSpPr>
        <p:spPr>
          <a:xfrm>
            <a:off x="5568696" y="13487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74436" y="2871216"/>
            <a:ext cx="82296" cy="164592"/>
          </a:xfrm>
          <a:prstGeom prst="roundRect">
            <a:avLst>
              <a:gd name="adj" fmla="val 33333"/>
            </a:avLst>
          </a:prstGeom>
          <a:solidFill>
            <a:srgbClr val="1FE3C4"/>
          </a:solidFill>
          <a:ln/>
        </p:spPr>
      </p:sp>
      <p:sp>
        <p:nvSpPr>
          <p:cNvPr id="7" name="Shape 5"/>
          <p:cNvSpPr/>
          <p:nvPr/>
        </p:nvSpPr>
        <p:spPr>
          <a:xfrm>
            <a:off x="5920740" y="2798064"/>
            <a:ext cx="82296" cy="310896"/>
          </a:xfrm>
          <a:prstGeom prst="roundRect">
            <a:avLst>
              <a:gd name="adj" fmla="val 33333"/>
            </a:avLst>
          </a:prstGeom>
          <a:solidFill>
            <a:srgbClr val="1FE3C4"/>
          </a:solidFill>
          <a:ln/>
        </p:spPr>
      </p:sp>
      <p:sp>
        <p:nvSpPr>
          <p:cNvPr id="8" name="Shape 6"/>
          <p:cNvSpPr/>
          <p:nvPr/>
        </p:nvSpPr>
        <p:spPr>
          <a:xfrm>
            <a:off x="6067044" y="2724912"/>
            <a:ext cx="82296" cy="457200"/>
          </a:xfrm>
          <a:prstGeom prst="roundRect">
            <a:avLst>
              <a:gd name="adj" fmla="val 33333"/>
            </a:avLst>
          </a:prstGeom>
          <a:solidFill>
            <a:srgbClr val="1FE3C4"/>
          </a:solidFill>
          <a:ln/>
        </p:spPr>
      </p:sp>
      <p:sp>
        <p:nvSpPr>
          <p:cNvPr id="9" name="Shape 7"/>
          <p:cNvSpPr/>
          <p:nvPr/>
        </p:nvSpPr>
        <p:spPr>
          <a:xfrm>
            <a:off x="6213348" y="2798064"/>
            <a:ext cx="82296" cy="310896"/>
          </a:xfrm>
          <a:prstGeom prst="roundRect">
            <a:avLst>
              <a:gd name="adj" fmla="val 33333"/>
            </a:avLst>
          </a:prstGeom>
          <a:solidFill>
            <a:srgbClr val="1FE3C4"/>
          </a:solidFill>
          <a:ln/>
        </p:spPr>
      </p:sp>
      <p:sp>
        <p:nvSpPr>
          <p:cNvPr id="10" name="Shape 8"/>
          <p:cNvSpPr/>
          <p:nvPr/>
        </p:nvSpPr>
        <p:spPr>
          <a:xfrm>
            <a:off x="6359652" y="2871216"/>
            <a:ext cx="82296" cy="164592"/>
          </a:xfrm>
          <a:prstGeom prst="roundRect">
            <a:avLst>
              <a:gd name="adj" fmla="val 33333"/>
            </a:avLst>
          </a:prstGeom>
          <a:solidFill>
            <a:srgbClr val="1FE3C4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3063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HOUSE GOA 2026  ·  TASK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3401568"/>
            <a:ext cx="12188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JARVIS Voice Assistant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0" y="4224528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 Retrieve.  Understand.  Respond.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94560" y="4892040"/>
            <a:ext cx="7799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 Retrieval-Augmented Generation assistant that converts spoken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C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into grounded answers using the MSMARCO-IIX knowledge base.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#RAGInGoa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Typing is friction. Speaking is natural.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 systems require users to type every question — that breaks down for: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interaction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needs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users on the move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conversational search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prefer speaking over typing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50749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B2438"/>
          </a:solidFill>
          <a:ln w="12700">
            <a:solidFill>
              <a:srgbClr val="1FE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51937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5486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lets users simply speak their question.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0" y="1417320"/>
            <a:ext cx="4709160" cy="530352"/>
          </a:xfrm>
          <a:prstGeom prst="roundRect">
            <a:avLst>
              <a:gd name="adj" fmla="val 15517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59168" y="1417320"/>
            <a:ext cx="4489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203436" y="1971812"/>
            <a:ext cx="201168" cy="15691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2148840"/>
            <a:ext cx="4709160" cy="530352"/>
          </a:xfrm>
          <a:prstGeom prst="roundRect">
            <a:avLst>
              <a:gd name="adj" fmla="val 15517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9168" y="2148840"/>
            <a:ext cx="4489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03436" y="2703332"/>
            <a:ext cx="201168" cy="15691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0" y="2880360"/>
            <a:ext cx="4709160" cy="530352"/>
          </a:xfrm>
          <a:prstGeom prst="roundRect">
            <a:avLst>
              <a:gd name="adj" fmla="val 15517"/>
            </a:avLst>
          </a:prstGeom>
          <a:solidFill>
            <a:srgbClr val="1FE3C4"/>
          </a:solidFill>
          <a:ln w="12700">
            <a:solidFill>
              <a:srgbClr val="1FE3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59168" y="2880360"/>
            <a:ext cx="4489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03436" y="3434852"/>
            <a:ext cx="201168" cy="15691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3611880"/>
            <a:ext cx="4709160" cy="530352"/>
          </a:xfrm>
          <a:prstGeom prst="roundRect">
            <a:avLst>
              <a:gd name="adj" fmla="val 15517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3611880"/>
            <a:ext cx="4489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03436" y="4166372"/>
            <a:ext cx="201168" cy="15691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0" y="4343400"/>
            <a:ext cx="4709160" cy="530352"/>
          </a:xfrm>
          <a:prstGeom prst="roundRect">
            <a:avLst>
              <a:gd name="adj" fmla="val 15517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4343400"/>
            <a:ext cx="44897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Response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voice-enabled knowledge assistant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72768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27048"/>
            <a:ext cx="2606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JARVIS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572768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56632" y="1527048"/>
            <a:ext cx="2606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the microphone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57032" y="1572768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4" name="Text 12"/>
          <p:cNvSpPr/>
          <p:nvPr/>
        </p:nvSpPr>
        <p:spPr>
          <a:xfrm>
            <a:off x="8257032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33104" y="1527048"/>
            <a:ext cx="2606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a question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43784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" y="2999232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2953512"/>
            <a:ext cx="2606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converted to text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25112" y="2843784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2999232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56632" y="2953512"/>
            <a:ext cx="2606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MSMARCO-IIX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01584" y="2843784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57032" y="2999232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26" name="Text 24"/>
          <p:cNvSpPr/>
          <p:nvPr/>
        </p:nvSpPr>
        <p:spPr>
          <a:xfrm>
            <a:off x="8257032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33104" y="2953512"/>
            <a:ext cx="2606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context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270248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4088" y="4425696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" y="4425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4379976"/>
            <a:ext cx="2606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grounded answer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25112" y="4270248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0560" y="4425696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4425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56632" y="4379976"/>
            <a:ext cx="2606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the answer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01584" y="4270248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57032" y="4425696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38" name="Text 36"/>
          <p:cNvSpPr/>
          <p:nvPr/>
        </p:nvSpPr>
        <p:spPr>
          <a:xfrm>
            <a:off x="8257032" y="4425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33104" y="4379976"/>
            <a:ext cx="2606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speaks it back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B0F1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description:  </a:t>
            </a:r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is a voice-first RAG assistant that lets users ask questions naturally and receive fast, context-grounded answers.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MSMARCO-IIX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B2438"/>
          </a:solidFill>
          <a:ln w="12700">
            <a:solidFill>
              <a:srgbClr val="1FE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1828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AI4Bharat — MSMARCO-IIX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 Hacker House Goa as the official knowledge base for this task.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429000"/>
            <a:ext cx="4754880" cy="0"/>
          </a:xfrm>
          <a:prstGeom prst="line">
            <a:avLst/>
          </a:prstGeom>
          <a:noFill/>
          <a:ln w="12700">
            <a:solidFill>
              <a:srgbClr val="2A3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6118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JARVIS's knowledge source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retrieved, not purely generated from pretrained knowledge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 through retrieval-grounded responses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retrieval-grounded?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965960"/>
            <a:ext cx="5239512" cy="1463040"/>
          </a:xfrm>
          <a:prstGeom prst="roundRect">
            <a:avLst>
              <a:gd name="adj" fmla="val 6250"/>
            </a:avLst>
          </a:prstGeom>
          <a:solidFill>
            <a:srgbClr val="141B2E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103120"/>
            <a:ext cx="469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Retrieval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2377440"/>
            <a:ext cx="4690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answers purely from pretrained memory — higher risk of hallucinated or outdated facts.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566160"/>
            <a:ext cx="5239512" cy="1463040"/>
          </a:xfrm>
          <a:prstGeom prst="roundRect">
            <a:avLst>
              <a:gd name="adj" fmla="val 6250"/>
            </a:avLst>
          </a:prstGeom>
          <a:solidFill>
            <a:srgbClr val="141B2E"/>
          </a:solidFill>
          <a:ln w="12700">
            <a:solidFill>
              <a:srgbClr val="1FE3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703320"/>
            <a:ext cx="469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MSMARCO-IIX Retrieval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0" y="3977640"/>
            <a:ext cx="4690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answers using evidence retrieved from the dataset — grounded, verifiable, lower hallucination.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5166360"/>
            <a:ext cx="5239512" cy="868680"/>
          </a:xfrm>
          <a:prstGeom prst="roundRect">
            <a:avLst>
              <a:gd name="adj" fmla="val 10526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5166360"/>
            <a:ext cx="46908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responses stay tied to real evidence instead of the model's own assumptions.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conversation, four stages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EAF9F6"/>
          </a:solidFill>
          <a:ln w="12700">
            <a:solidFill>
              <a:srgbClr val="1FE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642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(voice)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impact of artificial intelligence on healthcare?”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2852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55664" y="1842516"/>
            <a:ext cx="384048" cy="384048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9" name="Text 7"/>
          <p:cNvSpPr/>
          <p:nvPr/>
        </p:nvSpPr>
        <p:spPr>
          <a:xfrm>
            <a:off x="6455664" y="18425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0296" y="1627632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0296" y="1920240"/>
            <a:ext cx="4553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impact of artificial intelligence on healthcare?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2651760"/>
            <a:ext cx="52852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55664" y="2939796"/>
            <a:ext cx="384048" cy="384048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29397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0296" y="2724912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40296" y="3017520"/>
            <a:ext cx="4553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most relevant passages from MSMARCO-IIX.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3749040"/>
            <a:ext cx="52852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5664" y="4037076"/>
            <a:ext cx="384048" cy="384048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9" name="Text 17"/>
          <p:cNvSpPr/>
          <p:nvPr/>
        </p:nvSpPr>
        <p:spPr>
          <a:xfrm>
            <a:off x="6455664" y="40370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0296" y="3822192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40296" y="4114800"/>
            <a:ext cx="4553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answer grounded in retrieved context.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4846320"/>
            <a:ext cx="52852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55664" y="5134356"/>
            <a:ext cx="384048" cy="384048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24" name="Text 22"/>
          <p:cNvSpPr/>
          <p:nvPr/>
        </p:nvSpPr>
        <p:spPr>
          <a:xfrm>
            <a:off x="6455664" y="51343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0296" y="4919472"/>
            <a:ext cx="4553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40296" y="5212080"/>
            <a:ext cx="4553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is used in healthcare for diagnosis, medical imaging, drug discovery and personalized treatment...”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0B0F1C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52852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part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55955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doesn't simply ask an LLM to answer — it retrieves evidence first.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291840" cy="548640"/>
          </a:xfrm>
          <a:prstGeom prst="roundRect">
            <a:avLst>
              <a:gd name="adj" fmla="val 15000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63040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(voice input)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85416" y="2046793"/>
            <a:ext cx="201168" cy="228234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04288"/>
            <a:ext cx="3291840" cy="548640"/>
          </a:xfrm>
          <a:prstGeom prst="roundRect">
            <a:avLst>
              <a:gd name="adj" fmla="val 15000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304288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85416" y="2888041"/>
            <a:ext cx="201168" cy="228234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145536"/>
            <a:ext cx="3291840" cy="548640"/>
          </a:xfrm>
          <a:prstGeom prst="roundRect">
            <a:avLst>
              <a:gd name="adj" fmla="val 15000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145536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185416" y="3729289"/>
            <a:ext cx="201168" cy="228234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986784"/>
            <a:ext cx="3291840" cy="548640"/>
          </a:xfrm>
          <a:prstGeom prst="roundRect">
            <a:avLst>
              <a:gd name="adj" fmla="val 15000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986784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26280" y="3310128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1B2438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34015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37216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MSMARCO-IIX Knowledge Base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50208" y="3735324"/>
            <a:ext cx="502920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463040"/>
            <a:ext cx="3291840" cy="548640"/>
          </a:xfrm>
          <a:prstGeom prst="roundRect">
            <a:avLst>
              <a:gd name="adj" fmla="val 15000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1463040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Context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774936" y="2046793"/>
            <a:ext cx="201168" cy="228234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2304288"/>
            <a:ext cx="3291840" cy="548640"/>
          </a:xfrm>
          <a:prstGeom prst="roundRect">
            <a:avLst>
              <a:gd name="adj" fmla="val 15000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9328" y="2304288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774936" y="2888041"/>
            <a:ext cx="201168" cy="228234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3145536"/>
            <a:ext cx="3291840" cy="548640"/>
          </a:xfrm>
          <a:prstGeom prst="roundRect">
            <a:avLst>
              <a:gd name="adj" fmla="val 15000"/>
            </a:avLst>
          </a:prstGeom>
          <a:solidFill>
            <a:srgbClr val="1FE3C4"/>
          </a:solidFill>
          <a:ln w="12700">
            <a:solidFill>
              <a:srgbClr val="1FE3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9328" y="3145536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774936" y="3729289"/>
            <a:ext cx="201168" cy="228234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0" y="3986784"/>
            <a:ext cx="3291840" cy="548640"/>
          </a:xfrm>
          <a:prstGeom prst="roundRect">
            <a:avLst>
              <a:gd name="adj" fmla="val 15000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3986784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(voice)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950208" y="3867912"/>
            <a:ext cx="457200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31" name="Shape 29"/>
          <p:cNvSpPr/>
          <p:nvPr/>
        </p:nvSpPr>
        <p:spPr>
          <a:xfrm>
            <a:off x="7635240" y="3735324"/>
            <a:ext cx="502920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staged flow: speech becomes a query, the query retrieves grounded evidence, and evidence becomes a spoken answer.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strategies, not a single guess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evaluated multiple chunking approaches instead of a naive fixed-size split.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Fixed-size chunking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approach for comparison.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3063240" cy="384048"/>
          </a:xfrm>
          <a:prstGeom prst="rect">
            <a:avLst/>
          </a:prstGeom>
          <a:solidFill>
            <a:srgbClr val="1FE3C4"/>
          </a:solidFill>
          <a:ln w="19050">
            <a:solidFill>
              <a:srgbClr val="F4F6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089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611880"/>
            <a:ext cx="3063240" cy="384048"/>
          </a:xfrm>
          <a:prstGeom prst="rect">
            <a:avLst/>
          </a:prstGeom>
          <a:solidFill>
            <a:srgbClr val="0BB89E"/>
          </a:solidFill>
          <a:ln w="1905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11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114800"/>
            <a:ext cx="3063240" cy="384048"/>
          </a:xfrm>
          <a:prstGeom prst="rect">
            <a:avLst/>
          </a:prstGeom>
          <a:solidFill>
            <a:srgbClr val="1FE3C4"/>
          </a:solidFill>
          <a:ln w="19050">
            <a:solidFill>
              <a:srgbClr val="F4F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4617720"/>
            <a:ext cx="3063240" cy="384048"/>
          </a:xfrm>
          <a:prstGeom prst="rect">
            <a:avLst/>
          </a:prstGeom>
          <a:solidFill>
            <a:srgbClr val="0BB89E"/>
          </a:solidFill>
          <a:ln w="19050">
            <a:solidFill>
              <a:srgbClr val="F4F6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177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25112" y="19202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53712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Overlapping chunks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53712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preserves context across boundaries.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53712" y="31546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FE3C4">
              <a:alpha val="88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31546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73752" y="36118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6C63FF">
              <a:alpha val="88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611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40690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BB89E">
              <a:alpha val="88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40690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01584" y="19202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30184" y="2103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Semantic chunking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30184" y="24688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meaning/topic boundaries, not character count.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30184" y="315468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1FE3C4">
              <a:alpha val="85000"/>
            </a:srgbClr>
          </a:solidFill>
          <a:ln w="19050">
            <a:solidFill>
              <a:srgbClr val="1FE3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0184" y="31546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30184" y="384048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6C63FF">
              <a:alpha val="85000"/>
            </a:srgbClr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3840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30184" y="452628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FFB454">
              <a:alpha val="85000"/>
            </a:srgbClr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0184" y="4526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Metadata-aware &amp; hybrid chunking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Metadata-aware chunking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dataset metadata to preserve relationships between: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170432" cy="45720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5240">
            <a:solidFill>
              <a:srgbClr val="1FE3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03120" y="2468880"/>
            <a:ext cx="1170432" cy="45720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5240">
            <a:solidFill>
              <a:srgbClr val="1FE3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46888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1170432" cy="45720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5240">
            <a:solidFill>
              <a:srgbClr val="1FE3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6888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1170432" cy="457200"/>
          </a:xfrm>
          <a:prstGeom prst="roundRect">
            <a:avLst>
              <a:gd name="adj" fmla="val 50000"/>
            </a:avLst>
          </a:prstGeom>
          <a:solidFill>
            <a:srgbClr val="141B2E"/>
          </a:solidFill>
          <a:ln w="15240">
            <a:solidFill>
              <a:srgbClr val="1FE3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46888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info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3108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important metadata from becoming detached from the content it describes.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5352" y="150876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0B0F1C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9672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Hybrid strategy (final)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19672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final pipeline combines all four ideas into one retrieval unit: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19672" y="2514600"/>
            <a:ext cx="1078992" cy="685800"/>
          </a:xfrm>
          <a:prstGeom prst="roundRect">
            <a:avLst>
              <a:gd name="adj" fmla="val 9333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2514600"/>
            <a:ext cx="10241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71232" y="251460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26680" y="2514600"/>
            <a:ext cx="1078992" cy="685800"/>
          </a:xfrm>
          <a:prstGeom prst="roundRect">
            <a:avLst>
              <a:gd name="adj" fmla="val 9333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514600"/>
            <a:ext cx="10241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78240" y="251460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33688" y="2514600"/>
            <a:ext cx="1078992" cy="685800"/>
          </a:xfrm>
          <a:prstGeom prst="roundRect">
            <a:avLst>
              <a:gd name="adj" fmla="val 9333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2514600"/>
            <a:ext cx="10241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985248" y="2514600"/>
            <a:ext cx="18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140696" y="2514600"/>
            <a:ext cx="1078992" cy="685800"/>
          </a:xfrm>
          <a:prstGeom prst="roundRect">
            <a:avLst>
              <a:gd name="adj" fmla="val 9333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68128" y="2514600"/>
            <a:ext cx="10241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19672" y="3429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retriever richer, more useful contextual units per query.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EAF9F6"/>
          </a:solidFill>
          <a:ln w="12700">
            <a:solidFill>
              <a:srgbClr val="1FE3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27939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68680" y="45720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 single 500-token split, JARVIS was benchmarked across five chunking strategies — the hybrid approach gives the retriever more coherent, better-contextualized passages, which directly improves grounding quality.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 →  Overlapping  →  Semantic  →  Metadata-aware  →  Hybrid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spoken words to top-K evidence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22376" y="21945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18562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Query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20340" y="2574036"/>
            <a:ext cx="164592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7" name="Shape 5"/>
          <p:cNvSpPr/>
          <p:nvPr/>
        </p:nvSpPr>
        <p:spPr>
          <a:xfrm>
            <a:off x="2916936" y="21945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2194560"/>
            <a:ext cx="18562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14900" y="2574036"/>
            <a:ext cx="164592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10" name="Shape 8"/>
          <p:cNvSpPr/>
          <p:nvPr/>
        </p:nvSpPr>
        <p:spPr>
          <a:xfrm>
            <a:off x="5111496" y="21945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194560"/>
            <a:ext cx="18562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09460" y="2574036"/>
            <a:ext cx="164592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13" name="Shape 11"/>
          <p:cNvSpPr/>
          <p:nvPr/>
        </p:nvSpPr>
        <p:spPr>
          <a:xfrm>
            <a:off x="7306056" y="21945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194560"/>
            <a:ext cx="18562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304020" y="2574036"/>
            <a:ext cx="164592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0616" y="2194560"/>
            <a:ext cx="1965960" cy="960120"/>
          </a:xfrm>
          <a:prstGeom prst="roundRect">
            <a:avLst>
              <a:gd name="adj" fmla="val 8571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2194560"/>
            <a:ext cx="18562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94560" y="3840480"/>
            <a:ext cx="7772400" cy="1737360"/>
          </a:xfrm>
          <a:prstGeom prst="roundRect">
            <a:avLst>
              <a:gd name="adj" fmla="val 5263"/>
            </a:avLst>
          </a:prstGeom>
          <a:solidFill>
            <a:srgbClr val="1B2438"/>
          </a:solidFill>
          <a:ln w="12700">
            <a:solidFill>
              <a:srgbClr val="1FE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6888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Top-K, not the whole dataset?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4434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retrieves only the most relevant chunks instead of scanning the entire dataset per query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latency low and answers focused on the strongest supporting evidence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generation, not free-form guessing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6974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Context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94760" y="2414016"/>
            <a:ext cx="502920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2011680"/>
            <a:ext cx="2331720" cy="1325880"/>
          </a:xfrm>
          <a:prstGeom prst="roundRect">
            <a:avLst>
              <a:gd name="adj" fmla="val 6897"/>
            </a:avLst>
          </a:prstGeom>
          <a:solidFill>
            <a:srgbClr val="0B0F1C"/>
          </a:solidFill>
          <a:ln w="12700">
            <a:solidFill>
              <a:srgbClr val="1FE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201168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903720" y="2574036"/>
            <a:ext cx="502920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12" name="Shape 10"/>
          <p:cNvSpPr/>
          <p:nvPr/>
        </p:nvSpPr>
        <p:spPr>
          <a:xfrm>
            <a:off x="7543800" y="2011680"/>
            <a:ext cx="3931920" cy="1325880"/>
          </a:xfrm>
          <a:prstGeom prst="roundRect">
            <a:avLst>
              <a:gd name="adj" fmla="val 6897"/>
            </a:avLst>
          </a:prstGeom>
          <a:solidFill>
            <a:srgbClr val="EAF9F6"/>
          </a:solidFill>
          <a:ln w="12700">
            <a:solidFill>
              <a:srgbClr val="1FE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18120" y="2148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18120" y="248716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generated when sufficient evidence exists in retrieved context.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4937760" y="3337560"/>
            <a:ext cx="18288" cy="1097280"/>
          </a:xfrm>
          <a:prstGeom prst="elbowConnector">
            <a:avLst/>
          </a:prstGeom>
          <a:noFill/>
          <a:ln w="25400">
            <a:solidFill>
              <a:srgbClr val="FFB4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4434840"/>
            <a:ext cx="5943600" cy="1417320"/>
          </a:xfrm>
          <a:prstGeom prst="roundRect">
            <a:avLst>
              <a:gd name="adj" fmla="val 6452"/>
            </a:avLst>
          </a:prstGeom>
          <a:solidFill>
            <a:srgbClr val="FFF6EA"/>
          </a:solidFill>
          <a:ln w="12700">
            <a:solidFill>
              <a:srgbClr val="FFB45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4572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evidence is insufficient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486460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couldn't find enough information in my knowledge base to answer that.”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5349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better than letting the model hallucinate a confident, unsupported answer.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instructs the model to answer only when the retrieved context supports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Guardrails: knowing what not to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8660" y="1623060"/>
            <a:ext cx="502920" cy="50292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6" name="Text 4"/>
          <p:cNvSpPr/>
          <p:nvPr/>
        </p:nvSpPr>
        <p:spPr>
          <a:xfrm>
            <a:off x="708660" y="16230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outside my current knowledge base.”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3420" y="1623060"/>
            <a:ext cx="502920" cy="50292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1" name="Text 9"/>
          <p:cNvSpPr/>
          <p:nvPr/>
        </p:nvSpPr>
        <p:spPr>
          <a:xfrm>
            <a:off x="4503420" y="16230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Unsupported-answer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2402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have enough information to answer that reliably.”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8180" y="1623060"/>
            <a:ext cx="502920" cy="50292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6" name="Text 14"/>
          <p:cNvSpPr/>
          <p:nvPr/>
        </p:nvSpPr>
        <p:spPr>
          <a:xfrm>
            <a:off x="8298180" y="16230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15400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input handling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22402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inappropriate or unsafe queries before generation.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56432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" y="3616452"/>
            <a:ext cx="502920" cy="50292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" y="36164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62102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23367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generated response is supported by retrieved context.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456432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3420" y="3616452"/>
            <a:ext cx="502920" cy="50292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26" name="Text 24"/>
          <p:cNvSpPr/>
          <p:nvPr/>
        </p:nvSpPr>
        <p:spPr>
          <a:xfrm>
            <a:off x="4503420" y="36164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20640" y="362102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threshold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233672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relevance threshold, the system won't force a confident answer.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456432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141B2E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Path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3895344"/>
            <a:ext cx="3200400" cy="310896"/>
          </a:xfrm>
          <a:prstGeom prst="roundRect">
            <a:avLst>
              <a:gd name="adj" fmla="val 17647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389534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similarity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820656" y="4178808"/>
            <a:ext cx="201168" cy="82296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34" name="Shape 32"/>
          <p:cNvSpPr/>
          <p:nvPr/>
        </p:nvSpPr>
        <p:spPr>
          <a:xfrm>
            <a:off x="8321040" y="4261104"/>
            <a:ext cx="3200400" cy="310896"/>
          </a:xfrm>
          <a:prstGeom prst="roundRect">
            <a:avLst>
              <a:gd name="adj" fmla="val 17647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426110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force an answer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820656" y="4544568"/>
            <a:ext cx="201168" cy="82296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37" name="Shape 35"/>
          <p:cNvSpPr/>
          <p:nvPr/>
        </p:nvSpPr>
        <p:spPr>
          <a:xfrm>
            <a:off x="8321040" y="4626864"/>
            <a:ext cx="3200400" cy="310896"/>
          </a:xfrm>
          <a:prstGeom prst="roundRect">
            <a:avLst>
              <a:gd name="adj" fmla="val 17647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462686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user to rephrase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harness, not just User → LLM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417320"/>
            <a:ext cx="35661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9888" y="141732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62656" y="1891528"/>
            <a:ext cx="201168" cy="11055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016252"/>
            <a:ext cx="35661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2016252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62656" y="2490460"/>
            <a:ext cx="201168" cy="11055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2615184"/>
            <a:ext cx="35661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2615184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62656" y="3089392"/>
            <a:ext cx="201168" cy="11055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280160" y="3214116"/>
            <a:ext cx="35661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3214116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Validation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962656" y="3688324"/>
            <a:ext cx="201168" cy="11055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0160" y="3813048"/>
            <a:ext cx="35661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3813048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1417320"/>
            <a:ext cx="35661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4928" y="141732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Validation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97696" y="1891528"/>
            <a:ext cx="201168" cy="11055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2016252"/>
            <a:ext cx="3566160" cy="457200"/>
          </a:xfrm>
          <a:prstGeom prst="roundRect">
            <a:avLst>
              <a:gd name="adj" fmla="val 18000"/>
            </a:avLst>
          </a:prstGeom>
          <a:solidFill>
            <a:srgbClr val="1FE3C4"/>
          </a:solidFill>
          <a:ln w="12700">
            <a:solidFill>
              <a:srgbClr val="1FE3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2016252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Generator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997696" y="2490460"/>
            <a:ext cx="201168" cy="11055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0" y="2615184"/>
            <a:ext cx="35661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4928" y="2615184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97696" y="3089392"/>
            <a:ext cx="201168" cy="11055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0" y="3214116"/>
            <a:ext cx="35661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3214116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997696" y="3688324"/>
            <a:ext cx="201168" cy="110551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0" y="3813048"/>
            <a:ext cx="35661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4928" y="3813048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Output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 flipV="1">
            <a:off x="4846320" y="1645920"/>
            <a:ext cx="2468880" cy="2395728"/>
          </a:xfrm>
          <a:prstGeom prst="line">
            <a:avLst/>
          </a:prstGeom>
          <a:noFill/>
          <a:ln w="28575">
            <a:solidFill>
              <a:srgbClr val="1FE3C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48640" y="54406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B0F1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559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handles: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2960" y="587044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 ·  Failures  ·  Structured inputs &amp; outputs  ·  Validation  ·  Retrieval failures  ·  Model failures  ·  Fallback responses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Benchmark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target: pipeline latency under 50ms.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30352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7D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E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7D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E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7D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E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with actual benchmark numbers before submission — measured across N test queries on the deployed pipeline.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75120" y="196596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2103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P70 / P100 (illustrative)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589520" y="3520440"/>
            <a:ext cx="822960" cy="685800"/>
          </a:xfrm>
          <a:prstGeom prst="rect">
            <a:avLst/>
          </a:prstGeom>
          <a:solidFill>
            <a:srgbClr val="1FE3C4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0" y="42611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052560" y="3017520"/>
            <a:ext cx="822960" cy="1188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0" y="42611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515600" y="2468880"/>
            <a:ext cx="822960" cy="173736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14" name="Text 11"/>
          <p:cNvSpPr/>
          <p:nvPr/>
        </p:nvSpPr>
        <p:spPr>
          <a:xfrm>
            <a:off x="10424160" y="42611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03720" y="469087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(placeholder proportions — replace with real measured values)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voice?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08760" y="2514600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18488" y="25146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79776" y="2991551"/>
            <a:ext cx="201168" cy="128382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9" name="Shape 7"/>
          <p:cNvSpPr/>
          <p:nvPr/>
        </p:nvSpPr>
        <p:spPr>
          <a:xfrm>
            <a:off x="1508760" y="3136392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8488" y="313639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79776" y="3613343"/>
            <a:ext cx="201168" cy="128382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3758184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8488" y="3758184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79776" y="4235135"/>
            <a:ext cx="201168" cy="128382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15" name="Shape 13"/>
          <p:cNvSpPr/>
          <p:nvPr/>
        </p:nvSpPr>
        <p:spPr>
          <a:xfrm>
            <a:off x="1508760" y="4379976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18488" y="4379976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36792" y="173736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1FE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11112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96912" y="2514600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51460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567928" y="3002524"/>
            <a:ext cx="201168" cy="199705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6912" y="3227832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1FE3C4"/>
          </a:solidFill>
          <a:ln w="12700">
            <a:solidFill>
              <a:srgbClr val="1FE3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32278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67928" y="3715756"/>
            <a:ext cx="201168" cy="199705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25" name="Shape 23"/>
          <p:cNvSpPr/>
          <p:nvPr/>
        </p:nvSpPr>
        <p:spPr>
          <a:xfrm>
            <a:off x="7296912" y="3941064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3941064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EAF9F6"/>
          </a:solidFill>
          <a:ln w="12700">
            <a:solidFill>
              <a:srgbClr val="1FE3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2578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makes knowledge retrieval faster to initiate, hands-free, conversational, more accessible, and more natural.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states, made obvious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2834640" cy="4709160"/>
          </a:xfrm>
          <a:prstGeom prst="roundRect">
            <a:avLst>
              <a:gd name="adj" fmla="val 7097"/>
            </a:avLst>
          </a:prstGeom>
          <a:solidFill>
            <a:srgbClr val="141B2E"/>
          </a:solidFill>
          <a:ln w="25400">
            <a:solidFill>
              <a:srgbClr val="2A34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 A R V I 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anything...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3154680"/>
            <a:ext cx="1188720" cy="118872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3154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TO SPEAK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“Listening...”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1560" y="525780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532180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Retrieved passage 1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Retrieved passage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state flow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0" y="205740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9664" y="205740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57723" y="2345436"/>
            <a:ext cx="131674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0" y="205740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9864" y="205740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57923" y="2345436"/>
            <a:ext cx="131674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205740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0064" y="205740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58123" y="2345436"/>
            <a:ext cx="131674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23" name="Shape 21"/>
          <p:cNvSpPr/>
          <p:nvPr/>
        </p:nvSpPr>
        <p:spPr>
          <a:xfrm>
            <a:off x="8915400" y="205740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0264" y="205740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358323" y="2345436"/>
            <a:ext cx="131674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0" y="2057400"/>
            <a:ext cx="1417320" cy="777240"/>
          </a:xfrm>
          <a:prstGeom prst="roundRect">
            <a:avLst>
              <a:gd name="adj" fmla="val 10588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70464" y="205740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0" y="3246120"/>
            <a:ext cx="7498080" cy="1234440"/>
          </a:xfrm>
          <a:prstGeom prst="roundRect">
            <a:avLst>
              <a:gd name="adj" fmla="val 7407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389120" y="3364992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89120" y="358444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...?”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0" y="3913632"/>
            <a:ext cx="6949440" cy="0"/>
          </a:xfrm>
          <a:prstGeom prst="line">
            <a:avLst/>
          </a:prstGeom>
          <a:noFill/>
          <a:ln w="12700">
            <a:solidFill>
              <a:srgbClr val="2A34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39776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89120" y="42062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followed by a Sources list of retrieved passages.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114800" y="4709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at every moment the user can see exactly what JARVIS is doing.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JARVIS combines three things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011680"/>
            <a:ext cx="822960" cy="82296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interaction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spoken conversation instead of typed search.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1FE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0" y="2011680"/>
            <a:ext cx="822960" cy="82296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RAG retrieval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749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evidence pulled from an indexed knowledge base.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09560" y="274320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9760" y="2011680"/>
            <a:ext cx="822960" cy="82296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6676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guarded answers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3749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tied to evidence, with guardrails for the unknown.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0B0F1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3492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voice-enabled RAG knowledge assistant powered by MSMARCO-IIX” — not a generic Siri/Jarvis-style clone.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E3C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99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70992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E3C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099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0" y="2221992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/ ElevenLabs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(select the one actually used)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170992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E3C4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7099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66760" y="2221992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answer generation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9319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E3C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31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443984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chunking strategies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730752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9319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E3C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931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0" y="4443984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 MSMARCO-IIX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730752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39319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FE3C4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3931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66760" y="4443984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orchestration layer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technologies actually used in the build are listed here.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05756" y="141732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0B0F1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05756" y="1417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JARVIS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4476" y="1965960"/>
            <a:ext cx="0" cy="320040"/>
          </a:xfrm>
          <a:prstGeom prst="line">
            <a:avLst/>
          </a:prstGeom>
          <a:noFill/>
          <a:ln w="25400">
            <a:solidFill>
              <a:srgbClr val="1FE3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2286000"/>
            <a:ext cx="6336792" cy="0"/>
          </a:xfrm>
          <a:prstGeom prst="line">
            <a:avLst/>
          </a:prstGeom>
          <a:noFill/>
          <a:ln w="25400">
            <a:solidFill>
              <a:srgbClr val="1FE3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286000"/>
            <a:ext cx="0" cy="228600"/>
          </a:xfrm>
          <a:prstGeom prst="line">
            <a:avLst/>
          </a:prstGeom>
          <a:noFill/>
          <a:ln w="25400">
            <a:solidFill>
              <a:srgbClr val="1FE3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62872" y="2286000"/>
            <a:ext cx="0" cy="228600"/>
          </a:xfrm>
          <a:prstGeom prst="line">
            <a:avLst/>
          </a:prstGeom>
          <a:noFill/>
          <a:ln w="25400">
            <a:solidFill>
              <a:srgbClr val="1FE3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5146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514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LAYER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37360" y="324612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32461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16952" y="25146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BB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16952" y="2514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74152" y="324612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3246120"/>
            <a:ext cx="2157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62288" y="3674059"/>
            <a:ext cx="201168" cy="106985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19" name="Shape 17"/>
          <p:cNvSpPr/>
          <p:nvPr/>
        </p:nvSpPr>
        <p:spPr>
          <a:xfrm>
            <a:off x="8074152" y="379476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3794760"/>
            <a:ext cx="2157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62288" y="4222699"/>
            <a:ext cx="201168" cy="106985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22" name="Shape 20"/>
          <p:cNvSpPr/>
          <p:nvPr/>
        </p:nvSpPr>
        <p:spPr>
          <a:xfrm>
            <a:off x="8074152" y="434340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4343400"/>
            <a:ext cx="2157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74236" y="3017520"/>
            <a:ext cx="397764" cy="1325880"/>
          </a:xfrm>
          <a:prstGeom prst="line">
            <a:avLst/>
          </a:prstGeom>
          <a:noFill/>
          <a:ln w="25400">
            <a:solidFill>
              <a:srgbClr val="E2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616952" y="3017520"/>
            <a:ext cx="397764" cy="1325880"/>
          </a:xfrm>
          <a:prstGeom prst="line">
            <a:avLst/>
          </a:prstGeom>
          <a:noFill/>
          <a:ln w="25400">
            <a:solidFill>
              <a:srgbClr val="E2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74236" y="4343400"/>
            <a:ext cx="384048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83964" y="4343400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93892" y="4722327"/>
            <a:ext cx="201168" cy="85588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29" name="Shape 27"/>
          <p:cNvSpPr/>
          <p:nvPr/>
        </p:nvSpPr>
        <p:spPr>
          <a:xfrm>
            <a:off x="4174236" y="4818888"/>
            <a:ext cx="384048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83964" y="4818888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Generator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993892" y="5197815"/>
            <a:ext cx="201168" cy="85588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32" name="Shape 30"/>
          <p:cNvSpPr/>
          <p:nvPr/>
        </p:nvSpPr>
        <p:spPr>
          <a:xfrm>
            <a:off x="4174236" y="5294376"/>
            <a:ext cx="3840480" cy="365760"/>
          </a:xfrm>
          <a:prstGeom prst="roundRect">
            <a:avLst>
              <a:gd name="adj" fmla="val 22500"/>
            </a:avLst>
          </a:prstGeom>
          <a:solidFill>
            <a:srgbClr val="1FE3C4"/>
          </a:solidFill>
          <a:ln w="12700">
            <a:solidFill>
              <a:srgbClr val="1FE3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83964" y="5294376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Check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993892" y="5673303"/>
            <a:ext cx="201168" cy="85588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35" name="Shape 33"/>
          <p:cNvSpPr/>
          <p:nvPr/>
        </p:nvSpPr>
        <p:spPr>
          <a:xfrm>
            <a:off x="4174236" y="5769864"/>
            <a:ext cx="384048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83964" y="5769864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993892" y="6148791"/>
            <a:ext cx="201168" cy="85588"/>
          </a:xfrm>
          <a:prstGeom prst="downArrow">
            <a:avLst/>
          </a:prstGeom>
          <a:solidFill>
            <a:srgbClr val="1FE3C4"/>
          </a:solidFill>
          <a:ln/>
        </p:spPr>
      </p:sp>
      <p:sp>
        <p:nvSpPr>
          <p:cNvPr id="38" name="Shape 36"/>
          <p:cNvSpPr/>
          <p:nvPr/>
        </p:nvSpPr>
        <p:spPr>
          <a:xfrm>
            <a:off x="4174236" y="6245352"/>
            <a:ext cx="3840480" cy="36576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83964" y="6245352"/>
            <a:ext cx="3621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Response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636776"/>
            <a:ext cx="548640" cy="54864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367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55448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First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55448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spoken interaction instead of text-only search.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2697480"/>
            <a:ext cx="548640" cy="54864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261518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Multi-Strategy Retrieval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615184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chunking approaches instead of naive fixed-size splitting.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3758184"/>
            <a:ext cx="548640" cy="54864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758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3675888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675888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generated using retrieved evidence.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45152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4818888"/>
            <a:ext cx="548640" cy="54864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818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28800" y="473659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4736592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knows when it doesn't have enough information.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705856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" y="5879592"/>
            <a:ext cx="548640" cy="54864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879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28800" y="579729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Driven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77840" y="5797296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with P50 / P70 / P100, not one best-case number.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2219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JARVIS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2048256"/>
            <a:ext cx="164592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9" name="Shape 7"/>
          <p:cNvSpPr/>
          <p:nvPr/>
        </p:nvSpPr>
        <p:spPr>
          <a:xfrm>
            <a:off x="3355848" y="16002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1737360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22219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microphone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0176" y="2048256"/>
            <a:ext cx="164592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14" name="Shape 12"/>
          <p:cNvSpPr/>
          <p:nvPr/>
        </p:nvSpPr>
        <p:spPr>
          <a:xfrm>
            <a:off x="6163056" y="16002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0216" y="1737360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0216" y="22219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87384" y="2048256"/>
            <a:ext cx="164592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19" name="Shape 17"/>
          <p:cNvSpPr/>
          <p:nvPr/>
        </p:nvSpPr>
        <p:spPr>
          <a:xfrm>
            <a:off x="8970264" y="16002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07424" y="1737360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21" name="Text 19"/>
          <p:cNvSpPr/>
          <p:nvPr/>
        </p:nvSpPr>
        <p:spPr>
          <a:xfrm>
            <a:off x="9107424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07424" y="22219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transcription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FE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363931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72968" y="3465576"/>
            <a:ext cx="164592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28" name="Shape 26"/>
          <p:cNvSpPr/>
          <p:nvPr/>
        </p:nvSpPr>
        <p:spPr>
          <a:xfrm>
            <a:off x="3355848" y="30175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FE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93008" y="3154680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30" name="Text 28"/>
          <p:cNvSpPr/>
          <p:nvPr/>
        </p:nvSpPr>
        <p:spPr>
          <a:xfrm>
            <a:off x="3493008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93008" y="363931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0176" y="3465576"/>
            <a:ext cx="164592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33" name="Shape 31"/>
          <p:cNvSpPr/>
          <p:nvPr/>
        </p:nvSpPr>
        <p:spPr>
          <a:xfrm>
            <a:off x="6163056" y="30175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0216" y="3154680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0216" y="363931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sources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787384" y="3465576"/>
            <a:ext cx="164592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38" name="Shape 36"/>
          <p:cNvSpPr/>
          <p:nvPr/>
        </p:nvSpPr>
        <p:spPr>
          <a:xfrm>
            <a:off x="8970264" y="30175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107424" y="3154680"/>
            <a:ext cx="457200" cy="457200"/>
          </a:xfrm>
          <a:prstGeom prst="ellipse">
            <a:avLst/>
          </a:prstGeom>
          <a:solidFill>
            <a:srgbClr val="1FE3C4"/>
          </a:solidFill>
          <a:ln/>
        </p:spPr>
      </p:sp>
      <p:sp>
        <p:nvSpPr>
          <p:cNvPr id="40" name="Text 38"/>
          <p:cNvSpPr/>
          <p:nvPr/>
        </p:nvSpPr>
        <p:spPr>
          <a:xfrm>
            <a:off x="9107424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07424" y="363931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response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70916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0B0F1C"/>
          </a:solidFill>
          <a:ln w="12700">
            <a:solidFill>
              <a:srgbClr val="1FE3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486460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second demo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68680" y="519379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one query that CAN be answered, and one query that CANNOT — the second one proves the guardrails actually work.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120640" cy="512064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4754880" cy="4754880"/>
          </a:xfrm>
          <a:prstGeom prst="ellipse">
            <a:avLst/>
          </a:prstGeom>
          <a:solidFill>
            <a:srgbClr val="1FE3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659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JARVIS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45920" y="2788920"/>
            <a:ext cx="8897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 RAG assistant that turns spoken questions into grounded answers.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34440" y="3749040"/>
            <a:ext cx="1783080" cy="777240"/>
          </a:xfrm>
          <a:prstGeom prst="roundRect">
            <a:avLst>
              <a:gd name="adj" fmla="val 10588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9304" y="3749040"/>
            <a:ext cx="1673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45684" y="4037076"/>
            <a:ext cx="144841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9" name="Shape 7"/>
          <p:cNvSpPr/>
          <p:nvPr/>
        </p:nvSpPr>
        <p:spPr>
          <a:xfrm>
            <a:off x="3218688" y="3749040"/>
            <a:ext cx="1783080" cy="777240"/>
          </a:xfrm>
          <a:prstGeom prst="roundRect">
            <a:avLst>
              <a:gd name="adj" fmla="val 10588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3749040"/>
            <a:ext cx="1673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932" y="4037076"/>
            <a:ext cx="144841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12" name="Shape 10"/>
          <p:cNvSpPr/>
          <p:nvPr/>
        </p:nvSpPr>
        <p:spPr>
          <a:xfrm>
            <a:off x="5202936" y="3749040"/>
            <a:ext cx="1783080" cy="777240"/>
          </a:xfrm>
          <a:prstGeom prst="roundRect">
            <a:avLst>
              <a:gd name="adj" fmla="val 10588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3749040"/>
            <a:ext cx="1673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14180" y="4037076"/>
            <a:ext cx="144841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15" name="Shape 13"/>
          <p:cNvSpPr/>
          <p:nvPr/>
        </p:nvSpPr>
        <p:spPr>
          <a:xfrm>
            <a:off x="7187184" y="3749040"/>
            <a:ext cx="1783080" cy="777240"/>
          </a:xfrm>
          <a:prstGeom prst="roundRect">
            <a:avLst>
              <a:gd name="adj" fmla="val 10588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2048" y="3749040"/>
            <a:ext cx="1673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98428" y="4037076"/>
            <a:ext cx="144841" cy="201168"/>
          </a:xfrm>
          <a:prstGeom prst="rightArrow">
            <a:avLst/>
          </a:prstGeom>
          <a:solidFill>
            <a:srgbClr val="1FE3C4"/>
          </a:solidFill>
          <a:ln/>
        </p:spPr>
      </p:sp>
      <p:sp>
        <p:nvSpPr>
          <p:cNvPr id="18" name="Shape 16"/>
          <p:cNvSpPr/>
          <p:nvPr/>
        </p:nvSpPr>
        <p:spPr>
          <a:xfrm>
            <a:off x="9171432" y="3749040"/>
            <a:ext cx="1783080" cy="777240"/>
          </a:xfrm>
          <a:prstGeom prst="roundRect">
            <a:avLst>
              <a:gd name="adj" fmla="val 10588"/>
            </a:avLst>
          </a:prstGeom>
          <a:solidFill>
            <a:srgbClr val="1B2438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6296" y="3749040"/>
            <a:ext cx="1673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0" y="5120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#RAGInGoa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0" y="5623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House Goa 2026  ·  Task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